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5617" autoAdjust="0"/>
  </p:normalViewPr>
  <p:slideViewPr>
    <p:cSldViewPr snapToGrid="0" snapToObjects="1">
      <p:cViewPr varScale="1">
        <p:scale>
          <a:sx n="72" d="100"/>
          <a:sy n="72" d="100"/>
        </p:scale>
        <p:origin x="20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03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</a:t>
            </a:r>
            <a:r>
              <a:rPr lang="en-US" dirty="0" err="1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</a:t>
            </a:r>
            <a:r>
              <a:rPr lang="en-US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dirty="0" err="1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</a:t>
            </a:r>
            <a:r>
              <a:rPr lang="en-US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 err="1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interpretação</a:t>
            </a:r>
            <a:r>
              <a:rPr lang="en-US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dirty="0" err="1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criatividade</a:t>
            </a:r>
            <a:r>
              <a:rPr lang="en-US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
FALA SUGERIDA:
antes de </a:t>
            </a:r>
            <a:r>
              <a:rPr lang="en-US" dirty="0" err="1"/>
              <a:t>começar</a:t>
            </a:r>
            <a:r>
              <a:rPr lang="en-US" dirty="0"/>
              <a:t>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programação</a:t>
            </a:r>
            <a:r>
              <a:rPr lang="en-US" dirty="0"/>
              <a:t>, </a:t>
            </a:r>
            <a:r>
              <a:rPr lang="en-US" dirty="0" err="1"/>
              <a:t>quero</a:t>
            </a:r>
            <a:r>
              <a:rPr lang="en-US" dirty="0"/>
              <a:t> </a:t>
            </a:r>
            <a:r>
              <a:rPr lang="en-US" dirty="0" err="1"/>
              <a:t>propor</a:t>
            </a:r>
            <a:r>
              <a:rPr lang="en-US" dirty="0"/>
              <a:t> uma </a:t>
            </a:r>
            <a:r>
              <a:rPr lang="en-US" dirty="0" err="1"/>
              <a:t>experiência</a:t>
            </a:r>
            <a:r>
              <a:rPr lang="en-US" dirty="0"/>
              <a:t> </a:t>
            </a:r>
            <a:r>
              <a:rPr lang="en-US" dirty="0" err="1"/>
              <a:t>rápida</a:t>
            </a:r>
            <a:r>
              <a:rPr lang="en-US" dirty="0"/>
              <a:t>. Todo </a:t>
            </a:r>
            <a:r>
              <a:rPr lang="en-US" dirty="0" err="1"/>
              <a:t>mundo</a:t>
            </a:r>
            <a:r>
              <a:rPr lang="en-US" dirty="0"/>
              <a:t> </a:t>
            </a:r>
            <a:r>
              <a:rPr lang="en-US" dirty="0" err="1"/>
              <a:t>fala</a:t>
            </a:r>
            <a:r>
              <a:rPr lang="en-US" dirty="0"/>
              <a:t> de </a:t>
            </a:r>
            <a:r>
              <a:rPr lang="en-US" dirty="0" err="1"/>
              <a:t>inteligência</a:t>
            </a:r>
            <a:r>
              <a:rPr lang="en-US" dirty="0"/>
              <a:t> artificial, de prompt, de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instruções</a:t>
            </a:r>
            <a:r>
              <a:rPr lang="en-US" dirty="0"/>
              <a:t> para uma IA.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Mas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gente</a:t>
            </a:r>
            <a:r>
              <a:rPr lang="en-US" dirty="0"/>
              <a:t> sabe </a:t>
            </a:r>
            <a:r>
              <a:rPr lang="en-US" dirty="0" err="1"/>
              <a:t>mesmo</a:t>
            </a:r>
            <a:r>
              <a:rPr lang="en-US" dirty="0"/>
              <a:t> se </a:t>
            </a:r>
            <a:r>
              <a:rPr lang="en-US" dirty="0" err="1"/>
              <a:t>comunicar</a:t>
            </a:r>
            <a:r>
              <a:rPr lang="en-US" dirty="0"/>
              <a:t> com </a:t>
            </a:r>
            <a:r>
              <a:rPr lang="en-US" dirty="0" err="1"/>
              <a:t>ela</a:t>
            </a:r>
            <a:r>
              <a:rPr lang="en-US" dirty="0"/>
              <a:t>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Vamos </a:t>
            </a:r>
            <a:r>
              <a:rPr lang="en-US" dirty="0" err="1"/>
              <a:t>experimentar</a:t>
            </a:r>
            <a:r>
              <a:rPr lang="en-US" dirty="0"/>
              <a:t> </a:t>
            </a:r>
            <a:r>
              <a:rPr lang="en-US" dirty="0" err="1"/>
              <a:t>isso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prática</a:t>
            </a:r>
            <a:r>
              <a:rPr lang="en-US" dirty="0"/>
              <a:t>?
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0718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SUGERIDA:
É o seguinte: agora vocês são a inteligência artificial. Vou mandar quatro comandos e vocês vão desenhar exatamente aquilo que entenderem. Não vou contar qual é o objeto, nem dar dicas. Não precisa saber desenhar, beleza? O objetivo é interpretar.
OPERAÇÃO / CUIDADO:
Confirmar que todos já receberam papel e caneta antes de iniciar. Não confirmar ou negar hipóteses sobre o objeto.
PASSAGEM:
Revelar a primeira instrução.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01:10–01:35
FALA SUGERIDA:
Desenhe uma forma circular oval.
OPERAÇÃO / CUIDADO:
Ler somente a instrução, sem complementos. Dar alguns segundos para que todos avancem. Se alguém pedir explicações, responder apenas: “Interpreta do jeito que fizer sentido para você.”
PASSAGEM:
Avançar quando as pessoas terminarem.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01:35–02:00
FALA SUGERIDA:
Dentro dessa forma, desenhe vários quadradinhos.
OPERAÇÃO / CUIDADO:
Ler somente a instrução, sem complementos. Dar alguns segundos para que todos avancem. Se alguém pedir explicações, responder apenas: “Interpreta do jeito que fizer sentido para você.”
PASSAGEM:
Avançar quando as pessoas terminarem.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02:00–02:25
FALA SUGERIDA:
Encostando na forma oval, desenhe um “Y”.
OPERAÇÃO / CUIDADO:
Ler somente a instrução, sem complementos. Dar alguns segundos para que todos avancem. Se alguém pedir explicações, responder apenas: “Interpreta do jeito que fizer sentido para você.”
PASSAGEM:
Avançar quando as pessoas terminarem.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02:25–02:50
FALA SUGERIDA:
Na base do “Y”, desenhe um retângulo “de pé” e estreito.
OPERAÇÃO / CUIDADO:
Ler somente a instrução, sem complementos. Dar alguns segundos para que todos avancem. Se alguém pedir explicações, responder apenas: “Interpreta do jeito que fizer sentido para você.”
PASSAGEM:
Avançar quando as pessoas terminarem.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02:50–04:10
FALA SUGERIDA:
Terminou? Agora quero ver o que saiu disso aí. Quem topa mostrar seu desenho? Alguém acha que identificou o objeto? Olha que interessante: todo mundo recebeu as mesmas instruções, mas cada pessoa imaginou uma coisa. E ninguém fez isso de propósito.
OPERAÇÃO / CUIDADO:
Pedir dois ou três desenhos, sem dar pistas. Controlar o tempo para não ultrapassar 1 minuto e 20 segundos.
PASSAGEM:
Passar ao slide de revelação com uma pequena pausa.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04:10–05:10
FALA SUGERIDA:
Era isso aqui! Um espremedor de batatas! Quem chegou perto? Quem desenhou uma raquete? Quem criou alguma coisa completamente diferente? Agora pensem: se todo mundo recebeu os mesmos comandos, por que os desenhos ficaram diferentes?
OPERAÇÃO / CUIDADO:
Mostrar a foto original do objeto somente agora. Pausar para reação e risadas; não prolongar.
PASSAGEM:
Passar para o exemplo das 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05:10–06:35
FALA SUGERIDA:
A gente também testou o desafio com IA. Olhem algumas interpretações que apareceram: raquete, microfone e até catapulta! A IA respondeu com base nas informações disponíveis, mas não tinha acesso à imagem que estava na nossa cabeça. E nós acabamos de passar por uma situação parecida.
OPERAÇÃO / CUIDADO:
Essas interpretações são exemplos dos testes enviados. Não afirmar que todos os modelos sempre respondem dessa forma. Se necessário, abrir as capturas originais que acompanham a apresentação.
PASSAGEM:
Perguntar o que ficou faltando nos comandos.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06:35–07:40
FALA SUGERIDA:
Perceberam? Quem escreveu os comandos sabia exatamente qual era o objeto. Mas quem recebeu não sabia. Faltou explicar o objetivo, o formato esperado e a relação entre as partes. A gente costuma preencher essas lacunas com aquilo que conhece. E esse é um dos motivos pelos quais um prompt pode produzir algo bem diferente do que imaginamos.
OPERAÇÃO / CUIDADO:
Evitar jargão e transformar a discussão em aula longa.
PASSAGEM:
Propor a regra de ouro com quatro aspectos.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07:40–08:55
FALA SUGERIDA:
Então, o que a gente poderia ter feito melhor? Primeiro, dizer qual era o objeto. Depois, explicar a perspectiva, as partes e como elas se conectam. Por exemplo: desenhe um espremedor de batatas visto de frente, com cabeça oval e grade quadriculada, duas hastes convergindo para um cabo vertical. Olha como só essa mudança reduz interpretações possíveis. Não precisa ser cientista de dados para começar a escrever bons prompts. Precisa comunicar o que quer e melhorar as instruções com base no resultado.
OPERAÇÃO / CUIDADO:
Explicar que contexto ajuda, mas não garante resultado correto; revisar ainda é necessário.
PASSAGEM:
Conectar aprendizagem ao propósito do TECHNE Talks.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08:55–10:00
FALA SUGERIDA:
E por que a gente começou o TECHNE Talks com essa dinâmica? Porque tecnologia não é só ferramenta. Também envolve gente, comunicação, ideias e experiências. Às vezes o que parece óbvio pra gente não é óbvio pro outro. E é quando a gente conversa, pergunta e compartilha que começa a construir algo melhor. Essa é a essência do TECHNE Talks. Então aproveitem o dia, conheçam quem está do lado, perguntem, participem e troquem experiências. Sejam todos muito bem-vindos! E agora vamos conhecer melhor essa galera.
OPERAÇÃO / CUIDADO:
Fechar sem voltar ao exemplo técnico; fazer a transição para integração/apresentações.
PASSAGEM:
Fim da abertura de dez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dark_tech_themed_presentation_thumbnail_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 13">
            <a:extLst>
              <a:ext uri="{FF2B5EF4-FFF2-40B4-BE49-F238E27FC236}">
                <a16:creationId xmlns:a16="http://schemas.microsoft.com/office/drawing/2014/main" id="{C4687EBD-6E87-8449-AA9E-FC07BFCCCF51}"/>
              </a:ext>
            </a:extLst>
          </p:cNvPr>
          <p:cNvSpPr/>
          <p:nvPr/>
        </p:nvSpPr>
        <p:spPr>
          <a:xfrm>
            <a:off x="7245625" y="5163577"/>
            <a:ext cx="378018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83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03504"/>
            <a:ext cx="438912" cy="0"/>
          </a:xfrm>
          <a:prstGeom prst="line">
            <a:avLst/>
          </a:prstGeom>
          <a:noFill/>
          <a:ln w="27940">
            <a:solidFill>
              <a:srgbClr val="B23A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063240" y="28346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6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DO PRIMEIRO PROMPT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61320" y="28346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kern="0" spc="1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/  12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04088" y="1078992"/>
            <a:ext cx="146304" cy="3986784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69848" y="1088136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AGORA,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1069848" y="182880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9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VOCÊ</a:t>
            </a:r>
            <a:endParaRPr lang="en-US" sz="5900" dirty="0"/>
          </a:p>
        </p:txBody>
      </p:sp>
      <p:sp>
        <p:nvSpPr>
          <p:cNvPr id="10" name="Text 8"/>
          <p:cNvSpPr/>
          <p:nvPr/>
        </p:nvSpPr>
        <p:spPr>
          <a:xfrm>
            <a:off x="1069848" y="2569464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9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É A IA.</a:t>
            </a:r>
            <a:endParaRPr lang="en-US" sz="5900" dirty="0"/>
          </a:p>
        </p:txBody>
      </p:sp>
      <p:sp>
        <p:nvSpPr>
          <p:cNvPr id="11" name="Text 9"/>
          <p:cNvSpPr/>
          <p:nvPr/>
        </p:nvSpPr>
        <p:spPr>
          <a:xfrm>
            <a:off x="1097280" y="3913632"/>
            <a:ext cx="57607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receberá quatro instruções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desenhar um objeto secreto.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360920" y="1243584"/>
            <a:ext cx="4069080" cy="4178808"/>
          </a:xfrm>
          <a:prstGeom prst="roundRect">
            <a:avLst>
              <a:gd name="adj" fmla="val 2697"/>
            </a:avLst>
          </a:prstGeom>
          <a:solidFill>
            <a:srgbClr val="E9E5DC"/>
          </a:solidFill>
          <a:ln w="12700">
            <a:solidFill>
              <a:srgbClr val="E9E5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680960" y="1837944"/>
            <a:ext cx="630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39328" y="1888236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PEGUE PAPEL E CANETA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80960" y="2551176"/>
            <a:ext cx="3383280" cy="0"/>
          </a:xfrm>
          <a:prstGeom prst="line">
            <a:avLst/>
          </a:prstGeom>
          <a:noFill/>
          <a:ln w="8890">
            <a:solidFill>
              <a:srgbClr val="D2C9C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0" y="2807208"/>
            <a:ext cx="630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39328" y="2857500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DESENHE O QUE ENTENDER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680960" y="3520440"/>
            <a:ext cx="3383280" cy="0"/>
          </a:xfrm>
          <a:prstGeom prst="line">
            <a:avLst/>
          </a:prstGeom>
          <a:noFill/>
          <a:ln w="8890">
            <a:solidFill>
              <a:srgbClr val="D2C9C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680960" y="3776472"/>
            <a:ext cx="630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39328" y="3826764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NÃO TENTE ADIVINHAR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8368" y="6537960"/>
            <a:ext cx="10853928" cy="0"/>
          </a:xfrm>
          <a:prstGeom prst="line">
            <a:avLst/>
          </a:prstGeom>
          <a:noFill/>
          <a:ln w="7620">
            <a:solidFill>
              <a:srgbClr val="D7D0C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76656" y="65928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1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DINÂMICA: ATUE COMO UMA INTELIGÊNCIA ARTIFICIAL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659282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" kern="0" spc="9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 ·  COMPARTILHAR  ·  EVOLUIR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83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03504"/>
            <a:ext cx="438912" cy="0"/>
          </a:xfrm>
          <a:prstGeom prst="line">
            <a:avLst/>
          </a:prstGeom>
          <a:noFill/>
          <a:ln w="27940">
            <a:solidFill>
              <a:srgbClr val="B23A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063240" y="28346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6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ATUE COMO UMA IA / PROMPT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61320" y="28346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kern="0" spc="1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/  12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947672" cy="2130552"/>
          </a:xfrm>
          <a:prstGeom prst="rect">
            <a:avLst/>
          </a:prstGeom>
          <a:solidFill>
            <a:srgbClr val="F6F3EE">
              <a:alpha val="0"/>
            </a:srgbClr>
          </a:solidFill>
          <a:ln w="1905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96112" y="1426464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8800" dirty="0"/>
          </a:p>
        </p:txBody>
      </p:sp>
      <p:sp>
        <p:nvSpPr>
          <p:cNvPr id="9" name="Shape 7"/>
          <p:cNvSpPr/>
          <p:nvPr/>
        </p:nvSpPr>
        <p:spPr>
          <a:xfrm>
            <a:off x="3108960" y="1353312"/>
            <a:ext cx="0" cy="3648456"/>
          </a:xfrm>
          <a:prstGeom prst="line">
            <a:avLst/>
          </a:prstGeom>
          <a:noFill/>
          <a:ln w="15240">
            <a:solidFill>
              <a:srgbClr val="D4CF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566160" y="1289304"/>
            <a:ext cx="7744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DESENHE UMA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566160" y="2130552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FORMA CIRCULAR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566160" y="2962656"/>
            <a:ext cx="7818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OVAL.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3575304" y="4590288"/>
            <a:ext cx="6373368" cy="0"/>
          </a:xfrm>
          <a:prstGeom prst="line">
            <a:avLst/>
          </a:prstGeom>
          <a:noFill/>
          <a:ln w="12700">
            <a:solidFill>
              <a:srgbClr val="D5CAC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575304" y="4782312"/>
            <a:ext cx="6035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Interprete. Desenhe. Não peça pistas.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93592" y="5687568"/>
            <a:ext cx="932688" cy="50292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837176" y="5687568"/>
            <a:ext cx="932688" cy="50292"/>
          </a:xfrm>
          <a:prstGeom prst="rect">
            <a:avLst/>
          </a:prstGeom>
          <a:solidFill>
            <a:srgbClr val="D4CBC2"/>
          </a:solidFill>
          <a:ln w="12700">
            <a:solidFill>
              <a:srgbClr val="D4CB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080760" y="5687568"/>
            <a:ext cx="932688" cy="50292"/>
          </a:xfrm>
          <a:prstGeom prst="rect">
            <a:avLst/>
          </a:prstGeom>
          <a:solidFill>
            <a:srgbClr val="D4CBC2"/>
          </a:solidFill>
          <a:ln w="12700">
            <a:solidFill>
              <a:srgbClr val="D4CB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24344" y="5687568"/>
            <a:ext cx="932688" cy="50292"/>
          </a:xfrm>
          <a:prstGeom prst="rect">
            <a:avLst/>
          </a:prstGeom>
          <a:solidFill>
            <a:srgbClr val="D4CBC2"/>
          </a:solidFill>
          <a:ln w="12700">
            <a:solidFill>
              <a:srgbClr val="D4CB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75304" y="5870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2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1 DE 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83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03504"/>
            <a:ext cx="438912" cy="0"/>
          </a:xfrm>
          <a:prstGeom prst="line">
            <a:avLst/>
          </a:prstGeom>
          <a:noFill/>
          <a:ln w="27940">
            <a:solidFill>
              <a:srgbClr val="B23A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063240" y="28346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6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ATUE COMO UMA IA / PROMPT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61320" y="28346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kern="0" spc="1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/  12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947672" cy="2130552"/>
          </a:xfrm>
          <a:prstGeom prst="rect">
            <a:avLst/>
          </a:prstGeom>
          <a:solidFill>
            <a:srgbClr val="F6F3EE">
              <a:alpha val="0"/>
            </a:srgbClr>
          </a:solidFill>
          <a:ln w="1905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96112" y="1426464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8800" dirty="0"/>
          </a:p>
        </p:txBody>
      </p:sp>
      <p:sp>
        <p:nvSpPr>
          <p:cNvPr id="9" name="Shape 7"/>
          <p:cNvSpPr/>
          <p:nvPr/>
        </p:nvSpPr>
        <p:spPr>
          <a:xfrm>
            <a:off x="3108960" y="1353312"/>
            <a:ext cx="0" cy="3648456"/>
          </a:xfrm>
          <a:prstGeom prst="line">
            <a:avLst/>
          </a:prstGeom>
          <a:noFill/>
          <a:ln w="15240">
            <a:solidFill>
              <a:srgbClr val="D4CF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566160" y="1289304"/>
            <a:ext cx="7744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DENTRO DESSA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566160" y="2130552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FORMA, DESENHE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566160" y="2962656"/>
            <a:ext cx="7818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VÁRIOS QUADRADINHOS.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3575304" y="4590288"/>
            <a:ext cx="6373368" cy="0"/>
          </a:xfrm>
          <a:prstGeom prst="line">
            <a:avLst/>
          </a:prstGeom>
          <a:noFill/>
          <a:ln w="12700">
            <a:solidFill>
              <a:srgbClr val="D5CAC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575304" y="4782312"/>
            <a:ext cx="6035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Interprete. Desenhe. Não peça pistas.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93592" y="5687568"/>
            <a:ext cx="932688" cy="50292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837176" y="5687568"/>
            <a:ext cx="932688" cy="50292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080760" y="5687568"/>
            <a:ext cx="932688" cy="50292"/>
          </a:xfrm>
          <a:prstGeom prst="rect">
            <a:avLst/>
          </a:prstGeom>
          <a:solidFill>
            <a:srgbClr val="D4CBC2"/>
          </a:solidFill>
          <a:ln w="12700">
            <a:solidFill>
              <a:srgbClr val="D4CB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24344" y="5687568"/>
            <a:ext cx="932688" cy="50292"/>
          </a:xfrm>
          <a:prstGeom prst="rect">
            <a:avLst/>
          </a:prstGeom>
          <a:solidFill>
            <a:srgbClr val="D4CBC2"/>
          </a:solidFill>
          <a:ln w="12700">
            <a:solidFill>
              <a:srgbClr val="D4CB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75304" y="5870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2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2 DE 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83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03504"/>
            <a:ext cx="438912" cy="0"/>
          </a:xfrm>
          <a:prstGeom prst="line">
            <a:avLst/>
          </a:prstGeom>
          <a:noFill/>
          <a:ln w="27940">
            <a:solidFill>
              <a:srgbClr val="B23A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063240" y="28346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6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ATUE COMO UMA IA / PROMPT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61320" y="28346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kern="0" spc="1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/  12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947672" cy="2130552"/>
          </a:xfrm>
          <a:prstGeom prst="rect">
            <a:avLst/>
          </a:prstGeom>
          <a:solidFill>
            <a:srgbClr val="F6F3EE">
              <a:alpha val="0"/>
            </a:srgbClr>
          </a:solidFill>
          <a:ln w="1905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96112" y="1426464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8800" dirty="0"/>
          </a:p>
        </p:txBody>
      </p:sp>
      <p:sp>
        <p:nvSpPr>
          <p:cNvPr id="9" name="Shape 7"/>
          <p:cNvSpPr/>
          <p:nvPr/>
        </p:nvSpPr>
        <p:spPr>
          <a:xfrm>
            <a:off x="3108960" y="1353312"/>
            <a:ext cx="0" cy="3648456"/>
          </a:xfrm>
          <a:prstGeom prst="line">
            <a:avLst/>
          </a:prstGeom>
          <a:noFill/>
          <a:ln w="15240">
            <a:solidFill>
              <a:srgbClr val="D4CF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566160" y="1289304"/>
            <a:ext cx="7744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ENCOSTANDO NA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566160" y="2130552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FORMA OVAL,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566160" y="2962656"/>
            <a:ext cx="7818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DESENHE UM “Y”.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3575304" y="4590288"/>
            <a:ext cx="6373368" cy="0"/>
          </a:xfrm>
          <a:prstGeom prst="line">
            <a:avLst/>
          </a:prstGeom>
          <a:noFill/>
          <a:ln w="12700">
            <a:solidFill>
              <a:srgbClr val="D5CAC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575304" y="4782312"/>
            <a:ext cx="6035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Interprete. Desenhe. Não peça pistas.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93592" y="5687568"/>
            <a:ext cx="932688" cy="50292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837176" y="5687568"/>
            <a:ext cx="932688" cy="50292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080760" y="5687568"/>
            <a:ext cx="932688" cy="50292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24344" y="5687568"/>
            <a:ext cx="932688" cy="50292"/>
          </a:xfrm>
          <a:prstGeom prst="rect">
            <a:avLst/>
          </a:prstGeom>
          <a:solidFill>
            <a:srgbClr val="D4CBC2"/>
          </a:solidFill>
          <a:ln w="12700">
            <a:solidFill>
              <a:srgbClr val="D4CB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75304" y="5870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2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3 DE 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83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03504"/>
            <a:ext cx="438912" cy="0"/>
          </a:xfrm>
          <a:prstGeom prst="line">
            <a:avLst/>
          </a:prstGeom>
          <a:noFill/>
          <a:ln w="27940">
            <a:solidFill>
              <a:srgbClr val="B23A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063240" y="28346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6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ATUE COMO UMA IA / PROMPT 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61320" y="28346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kern="0" spc="1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/  12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947672" cy="2130552"/>
          </a:xfrm>
          <a:prstGeom prst="rect">
            <a:avLst/>
          </a:prstGeom>
          <a:solidFill>
            <a:srgbClr val="F6F3EE">
              <a:alpha val="0"/>
            </a:srgbClr>
          </a:solidFill>
          <a:ln w="1905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96112" y="1426464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8800" dirty="0"/>
          </a:p>
        </p:txBody>
      </p:sp>
      <p:sp>
        <p:nvSpPr>
          <p:cNvPr id="9" name="Shape 7"/>
          <p:cNvSpPr/>
          <p:nvPr/>
        </p:nvSpPr>
        <p:spPr>
          <a:xfrm>
            <a:off x="3108960" y="1353312"/>
            <a:ext cx="0" cy="3648456"/>
          </a:xfrm>
          <a:prstGeom prst="line">
            <a:avLst/>
          </a:prstGeom>
          <a:noFill/>
          <a:ln w="15240">
            <a:solidFill>
              <a:srgbClr val="D4CF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566160" y="1289304"/>
            <a:ext cx="7744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NA BASE DO “Y”,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566160" y="2130552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DESENHE UM RETÂNGULO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566160" y="2962656"/>
            <a:ext cx="7818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“DE PÉ” E ESTREITO.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3575304" y="4590288"/>
            <a:ext cx="6373368" cy="0"/>
          </a:xfrm>
          <a:prstGeom prst="line">
            <a:avLst/>
          </a:prstGeom>
          <a:noFill/>
          <a:ln w="12700">
            <a:solidFill>
              <a:srgbClr val="D5CAC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575304" y="4782312"/>
            <a:ext cx="6035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Interprete. Desenhe. Não peça pistas.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93592" y="5687568"/>
            <a:ext cx="932688" cy="50292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837176" y="5687568"/>
            <a:ext cx="932688" cy="50292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080760" y="5687568"/>
            <a:ext cx="932688" cy="50292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24344" y="5687568"/>
            <a:ext cx="932688" cy="50292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75304" y="5870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2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4 DE 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83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2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03504"/>
            <a:ext cx="438912" cy="0"/>
          </a:xfrm>
          <a:prstGeom prst="line">
            <a:avLst/>
          </a:prstGeom>
          <a:noFill/>
          <a:ln w="27940">
            <a:solidFill>
              <a:srgbClr val="B23A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063240" y="28346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6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 DE COMPARAR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61320" y="28346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kern="0" spc="12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/  12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4088" y="1353312"/>
            <a:ext cx="8412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QUE</a:t>
            </a:r>
            <a:endParaRPr lang="en-US" sz="6700" dirty="0"/>
          </a:p>
        </p:txBody>
      </p:sp>
      <p:sp>
        <p:nvSpPr>
          <p:cNvPr id="8" name="Text 6"/>
          <p:cNvSpPr/>
          <p:nvPr/>
        </p:nvSpPr>
        <p:spPr>
          <a:xfrm>
            <a:off x="704088" y="2231136"/>
            <a:ext cx="9144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VOCÊS</a:t>
            </a:r>
            <a:endParaRPr lang="en-US" sz="6700" dirty="0"/>
          </a:p>
        </p:txBody>
      </p:sp>
      <p:sp>
        <p:nvSpPr>
          <p:cNvPr id="9" name="Text 7"/>
          <p:cNvSpPr/>
          <p:nvPr/>
        </p:nvSpPr>
        <p:spPr>
          <a:xfrm>
            <a:off x="704088" y="3118104"/>
            <a:ext cx="107899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DESENHARAM?</a:t>
            </a:r>
            <a:endParaRPr lang="en-US" sz="6200" dirty="0"/>
          </a:p>
        </p:txBody>
      </p:sp>
      <p:sp>
        <p:nvSpPr>
          <p:cNvPr id="10" name="Shape 8"/>
          <p:cNvSpPr/>
          <p:nvPr/>
        </p:nvSpPr>
        <p:spPr>
          <a:xfrm>
            <a:off x="704088" y="4828032"/>
            <a:ext cx="10780776" cy="960120"/>
          </a:xfrm>
          <a:prstGeom prst="roundRect">
            <a:avLst>
              <a:gd name="adj" fmla="val 9524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87552" y="514807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Mostrem os desenhos.  ·  Alguém reconheceu o objeto?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58368" y="6537960"/>
            <a:ext cx="10853928" cy="0"/>
          </a:xfrm>
          <a:prstGeom prst="line">
            <a:avLst/>
          </a:prstGeom>
          <a:noFill/>
          <a:ln w="7620">
            <a:solidFill>
              <a:srgbClr val="4B4A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6656" y="65928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12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PROMPT PODE GERAR INTERPRETAÇÕES DIFERENTES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659282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" kern="0" spc="9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 ·  COMPARTILHAR  ·  EVOLUIR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83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03504"/>
            <a:ext cx="438912" cy="0"/>
          </a:xfrm>
          <a:prstGeom prst="line">
            <a:avLst/>
          </a:prstGeom>
          <a:noFill/>
          <a:ln w="27940">
            <a:solidFill>
              <a:srgbClr val="B23A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063240" y="28346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6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REVELAÇÃO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61320" y="28346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kern="0" spc="1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/  12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" y="1444752"/>
            <a:ext cx="5760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OBJETO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94944" y="2130552"/>
            <a:ext cx="5760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ERA UM...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4944" y="312724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ESPREMEDOR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694944" y="3831336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 BATATAS!</a:t>
            </a:r>
            <a:endParaRPr lang="en-US" sz="4300" dirty="0"/>
          </a:p>
        </p:txBody>
      </p:sp>
      <p:sp>
        <p:nvSpPr>
          <p:cNvPr id="11" name="Shape 9"/>
          <p:cNvSpPr/>
          <p:nvPr/>
        </p:nvSpPr>
        <p:spPr>
          <a:xfrm>
            <a:off x="704088" y="5020056"/>
            <a:ext cx="493776" cy="47549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04088" y="5221224"/>
            <a:ext cx="6611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chegou perto? E quem fez outra coisa?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403336" y="969264"/>
            <a:ext cx="2898648" cy="5285232"/>
          </a:xfrm>
          <a:prstGeom prst="roundRect">
            <a:avLst>
              <a:gd name="adj" fmla="val 37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0" descr="/mnt/data/espremedor_refer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1225296"/>
            <a:ext cx="2331720" cy="458114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8368" y="6537960"/>
            <a:ext cx="10853928" cy="0"/>
          </a:xfrm>
          <a:prstGeom prst="line">
            <a:avLst/>
          </a:prstGeom>
          <a:noFill/>
          <a:ln w="7620">
            <a:solidFill>
              <a:srgbClr val="D7D0C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76656" y="65928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1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MESMO OBJETIVO, MUITOS DESENHOS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15200" y="659282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" kern="0" spc="9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 ·  COMPARTILHAR  ·  EVOLUIR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83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2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03504"/>
            <a:ext cx="438912" cy="0"/>
          </a:xfrm>
          <a:prstGeom prst="line">
            <a:avLst/>
          </a:prstGeom>
          <a:noFill/>
          <a:ln w="27940">
            <a:solidFill>
              <a:srgbClr val="B23A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063240" y="28346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6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COMPARANDO COM OS TESTES DE IA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61320" y="28346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kern="0" spc="12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 /  12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" y="1078992"/>
            <a:ext cx="10698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 QUANDO PEDIMOS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94944" y="1664208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PARA A IA?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694944" y="24048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mesmos comandos levaram a interpretações diferentes.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3172968"/>
            <a:ext cx="3493008" cy="2084832"/>
          </a:xfrm>
          <a:prstGeom prst="roundRect">
            <a:avLst>
              <a:gd name="adj" fmla="val 438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50976" y="345643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9264" y="3831336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RAQUETE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69264" y="445312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forma oval e a grade </a:t>
            </a:r>
            <a:r>
              <a:rPr lang="en-US" sz="1300" dirty="0" err="1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foram</a:t>
            </a:r>
            <a:r>
              <a:rPr lang="en-US" sz="130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associadas</a:t>
            </a:r>
            <a:r>
              <a:rPr lang="en-US" sz="130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</a:t>
            </a:r>
            <a:r>
              <a:rPr lang="en-US" sz="1300" dirty="0" err="1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cordas</a:t>
            </a:r>
            <a:r>
              <a:rPr lang="en-US" sz="130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43984" y="3172968"/>
            <a:ext cx="3493008" cy="2084832"/>
          </a:xfrm>
          <a:prstGeom prst="roundRect">
            <a:avLst>
              <a:gd name="adj" fmla="val 438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681728" y="345643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0016" y="3831336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CATAPULTA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00016" y="445312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estrutura foi interpretada como outro objeto.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74736" y="3172968"/>
            <a:ext cx="3493008" cy="2084832"/>
          </a:xfrm>
          <a:prstGeom prst="roundRect">
            <a:avLst>
              <a:gd name="adj" fmla="val 438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412480" y="345643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30768" y="3831336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MICROFONE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30768" y="445312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formas permitiram uma leitura diferente.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" y="5788152"/>
            <a:ext cx="10789920" cy="0"/>
          </a:xfrm>
          <a:prstGeom prst="line">
            <a:avLst/>
          </a:prstGeom>
          <a:noFill/>
          <a:ln w="10160">
            <a:solidFill>
              <a:srgbClr val="56453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31520" y="597103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25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 REGISTRADOS NAS CAPTURAS ENVIADAS PARA A DINÂMICA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83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03504"/>
            <a:ext cx="438912" cy="0"/>
          </a:xfrm>
          <a:prstGeom prst="line">
            <a:avLst/>
          </a:prstGeom>
          <a:noFill/>
          <a:ln w="27940">
            <a:solidFill>
              <a:srgbClr val="B23A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063240" y="28346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6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APRENDEMOS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61320" y="28346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kern="0" spc="12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12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078992"/>
            <a:ext cx="9966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QUE FALTOU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10241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NAS INSTRUÇÕES?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94944" y="2852928"/>
            <a:ext cx="5212080" cy="3127248"/>
          </a:xfrm>
          <a:prstGeom prst="roundRect">
            <a:avLst>
              <a:gd name="adj" fmla="val 2632"/>
            </a:avLst>
          </a:prstGeom>
          <a:solidFill>
            <a:srgbClr val="E9E5DC"/>
          </a:solidFill>
          <a:ln w="12700">
            <a:solidFill>
              <a:srgbClr val="E9E5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108192" y="2852928"/>
            <a:ext cx="5367528" cy="31272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69264" y="3118104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0" spc="125" dirty="0">
                <a:solidFill>
                  <a:srgbClr val="5A6B7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QUE FOI DITO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31181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0" spc="60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QUE FICOU EM ABERTO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6393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Forma oval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82512" y="36393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Tamanho e orientação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1513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Vários quadradinhos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82512" y="415137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Quantidade e distribuição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46634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 Uma letra 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82512" y="46634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 Onde encostar e como posicionar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51755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 Retângulo estreito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82512" y="51755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 Relação com o restante do objeto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83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2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03504"/>
            <a:ext cx="438912" cy="0"/>
          </a:xfrm>
          <a:prstGeom prst="line">
            <a:avLst/>
          </a:prstGeom>
          <a:noFill/>
          <a:ln w="27940">
            <a:solidFill>
              <a:srgbClr val="B23A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063240" y="28346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16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REGRA DE OURO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61320" y="28346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kern="0" spc="12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 /  12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" y="11155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UMA BOA INSTRUÇÃO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694944" y="185623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NÃO DEPENDE DE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694944" y="25968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ADIVINHAÇÃO.</a:t>
            </a:r>
            <a:endParaRPr lang="en-US" sz="43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2679192" cy="731520"/>
          </a:xfrm>
          <a:prstGeom prst="roundRect">
            <a:avLst>
              <a:gd name="adj" fmla="val 10000"/>
            </a:avLst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32688" y="4050792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932688" y="4169664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932688" y="4288536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98448" y="401421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OBJETIVO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02736" y="3840480"/>
            <a:ext cx="2679192" cy="731520"/>
          </a:xfrm>
          <a:prstGeom prst="roundRect">
            <a:avLst>
              <a:gd name="adj" fmla="val 10000"/>
            </a:avLst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803904" y="4050792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803904" y="4169664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803904" y="4288536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169664" y="401421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CONTEXTO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73952" y="3840480"/>
            <a:ext cx="2679192" cy="731520"/>
          </a:xfrm>
          <a:prstGeom prst="roundRect">
            <a:avLst>
              <a:gd name="adj" fmla="val 10000"/>
            </a:avLst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675120" y="4050792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675120" y="4169664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675120" y="4288536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040880" y="401421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DETALHES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345168" y="3840480"/>
            <a:ext cx="2679192" cy="731520"/>
          </a:xfrm>
          <a:prstGeom prst="roundRect">
            <a:avLst>
              <a:gd name="adj" fmla="val 10000"/>
            </a:avLst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9546336" y="4050792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9546336" y="4169664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9546336" y="4288536"/>
            <a:ext cx="246888" cy="41148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912096" y="401421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6F3E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RESULTADO ESPERADO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029200"/>
            <a:ext cx="10698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Exemplo: “Desenhe um espremedor de batatas visto de frente,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5385816"/>
            <a:ext cx="10789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grade oval e duas hastes que convergem para um cabo vertical.”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8368" y="6537960"/>
            <a:ext cx="10853928" cy="0"/>
          </a:xfrm>
          <a:prstGeom prst="line">
            <a:avLst/>
          </a:prstGeom>
          <a:noFill/>
          <a:ln w="7620">
            <a:solidFill>
              <a:srgbClr val="4B4A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76656" y="65928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12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CLAREZA MELHORA O RESULTADO E FACILITA A REVISÃO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659282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" kern="0" spc="90" dirty="0">
                <a:solidFill>
                  <a:srgbClr val="CAC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 ·  COMPARTILHAR  ·  EVOLUIR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04088" y="411480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200" dirty="0">
                <a:solidFill>
                  <a:srgbClr val="5A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TECHNE TALKS  /  COMUNIDADE DE TECNOLOGIA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4088" y="841248"/>
            <a:ext cx="10771632" cy="0"/>
          </a:xfrm>
          <a:prstGeom prst="line">
            <a:avLst/>
          </a:prstGeom>
          <a:noFill/>
          <a:ln w="12700">
            <a:solidFill>
              <a:srgbClr val="D4CF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94944" y="1197864"/>
            <a:ext cx="8046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CONECTAR.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694944" y="2167128"/>
            <a:ext cx="106436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0" b="1" dirty="0">
                <a:solidFill>
                  <a:srgbClr val="B23A2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COMPARTILHAR.</a:t>
            </a:r>
            <a:endParaRPr lang="en-US" sz="5500" dirty="0"/>
          </a:p>
        </p:txBody>
      </p:sp>
      <p:sp>
        <p:nvSpPr>
          <p:cNvPr id="7" name="Text 5"/>
          <p:cNvSpPr/>
          <p:nvPr/>
        </p:nvSpPr>
        <p:spPr>
          <a:xfrm>
            <a:off x="694944" y="3136392"/>
            <a:ext cx="8138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EVOLUIR.</a:t>
            </a:r>
            <a:endParaRPr lang="en-US" sz="5500" dirty="0"/>
          </a:p>
        </p:txBody>
      </p:sp>
      <p:sp>
        <p:nvSpPr>
          <p:cNvPr id="8" name="Shape 6"/>
          <p:cNvSpPr/>
          <p:nvPr/>
        </p:nvSpPr>
        <p:spPr>
          <a:xfrm>
            <a:off x="704088" y="4690872"/>
            <a:ext cx="612648" cy="62179"/>
          </a:xfrm>
          <a:prstGeom prst="rect">
            <a:avLst/>
          </a:prstGeom>
          <a:solidFill>
            <a:srgbClr val="B23A22"/>
          </a:solidFill>
          <a:ln w="12700">
            <a:solidFill>
              <a:srgbClr val="B23A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5001768"/>
            <a:ext cx="9784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5A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Tecnologia se aprende em boa companhia.</a:t>
            </a:r>
            <a:endParaRPr lang="en-US" sz="2400" dirty="0"/>
          </a:p>
        </p:txBody>
      </p:sp>
      <p:pic>
        <p:nvPicPr>
          <p:cNvPr id="10" name="Image 0" descr="/mnt/data/logo_escura_techn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937760"/>
            <a:ext cx="1280160" cy="9966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6199632"/>
            <a:ext cx="10762488" cy="0"/>
          </a:xfrm>
          <a:prstGeom prst="line">
            <a:avLst/>
          </a:prstGeom>
          <a:noFill/>
          <a:ln w="12700">
            <a:solidFill>
              <a:srgbClr val="D4CF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13232" y="632764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260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SEJAM MUITO BEM-VINDOS!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1618</Words>
  <Application>Microsoft Office PowerPoint</Application>
  <PresentationFormat>Widescreen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Georgia</vt:lpstr>
      <vt:lpstr>Inter</vt:lpstr>
      <vt:lpstr>Inter Display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TECHNE Talks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TECHNE Talks | Abertura Interativa</dc:title>
  <dc:subject>Abertura de 10 minutos - Você consegue pensar como uma IA?</dc:subject>
  <dc:creator>TECHNE Talks</dc:creator>
  <cp:lastModifiedBy>Arthur De Castro</cp:lastModifiedBy>
  <cp:revision>2</cp:revision>
  <dcterms:created xsi:type="dcterms:W3CDTF">2026-10-16T04:28:18Z</dcterms:created>
  <dcterms:modified xsi:type="dcterms:W3CDTF">2026-10-17T06:03:19Z</dcterms:modified>
</cp:coreProperties>
</file>