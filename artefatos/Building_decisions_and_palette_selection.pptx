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235" autoAdjust="0"/>
  </p:normalViewPr>
  <p:slideViewPr>
    <p:cSldViewPr snapToGrid="0" snapToObjects="1">
      <p:cViewPr varScale="1">
        <p:scale>
          <a:sx n="60" d="100"/>
          <a:sy n="60" d="100"/>
        </p:scale>
        <p:origin x="13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010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(0:00). Não explique nada — só a promessa. O número nunca aparece antes da revelação.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 min. Escreva o palpite num papel, amasse e entregue a alguém da plateia para guardar. Não diga o número, não mostre. Frase: 'vou provar que sei o que a IA vai responder — antes de vocês perguntarem'.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≈3 min. Cinco pessoas escolhidas antes, cada uma com um app diferente, chat novo. Todas colam o prompt da tela. Contagem regressiva, viram as telas juntas; depois a pessoa da plateia abre o papel. Esse é o impacto. (Bastidor: não use a palavra 'aleatório' no prompt — alguns apps respondem com código.)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 min. Deixe este slide no telão. Todos anotam o número no celular. Reforce: ninguém mostra, ninguém fica de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 min. Só as duas perguntas, nessa ordem. Conte as mãos em voz alta antes de avançar — o próximo slide explica o que os números significam.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que isso prova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IA aprendeu lendo bilhões de textos escritos por pessoas. Se as pessoas escolhem 17, a IA "completa" com 17. Ela não sorteou; ela repetiu o que a maioria faz.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der diferente (plano B)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Poucas mãos no 17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amplie: "quem escolheu 7, 13, 17, 23 ou 27?" Esses são os números "aleatórios" favoritos dos humanos; costuma levantar metade da sala. A mensagem continua: evitamos os redondos.</a:t>
            </a:r>
          </a:p>
          <a:p>
            <a:pPr lvl="0"/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Alguém escolheu 10, 20 ou 30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vira piada e brinde: "parabéns, você é menos previsível que a IA."</a:t>
            </a:r>
          </a:p>
          <a:p>
            <a:pPr lvl="0"/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Sala totalmente atípica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(quase ninguém nesses números) → "vocês são a exceção. A IA foi treinada na média — e a média escolhe 17."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que você nunca perde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 impacto principal já aconteceu antes: os cinco apps responderam 17 e o papel tinha 17. A parte das mãos é só o bônus que mostra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onde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 17 veio. Se o bônus falhar, a prova principal continua de pé.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≈1–2 min. Uma cobaia pergunta ao app 'por que 17?' e lê em voz alta: vai jurar que foi aleatório, 'nada escondido'. Ela não lembra de ter escolhido — completa de novo, agora uma explicação plausível. Peça 'outro número': vem 23; depois 27, 13, 7… nunca 5, 10, 20 ou 30 (no teste com o Meta AI foi exatamente assim). Se sobrar tempo: 'agora sorteie usando código' — o número muda, porque calcular é diferente de completar.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 min. A mensagem: a IA não pensa nem escolhe — completa com a resposta mais comum. Todo pedido 'espontâneo' (nome, slogan, ideia, primeiro e-mail) devolve um 17: o mais provável, não o melhor nem o mais original. Se quer o 17, ótimo. Se quer algo novo, peça diferente: contexto, restrições, dez opções, 'nada óbvio'. Última fala, e deixe a conclusão com eles: 'Quando a IA escolheu 17, a gente riu. Quando você escolheu 17, foi o quê?'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70743-387D-6AE4-F257-DC2CAD4EC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502DE-29BB-25FB-37A8-22943999E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8A7D8-505A-4686-DFB4-F2E1BE1BB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06059-BAA6-AF22-B305-C1490E441B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11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1203-1902-2A50-95F3-4D2175494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9CA37-CD59-79E8-9479-518ED43DC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B91817-A2F0-795E-52EF-D72106D52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32600-C220-17FA-91F8-9720C97DD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3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387548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59148" y="985838"/>
            <a:ext cx="64083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TECHNE TALKS · ENCONTRO Nº 02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379351" y="985838"/>
            <a:ext cx="41422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360 · DINÂMICA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143000" y="3805237"/>
            <a:ext cx="381000" cy="9525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714500" y="3657600"/>
            <a:ext cx="6837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585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PARTICIPAM · 5 COBAIAS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43000" y="4267200"/>
            <a:ext cx="953452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3756"/>
              </a:lnSpc>
              <a:buNone/>
            </a:pPr>
            <a:r>
              <a:rPr lang="en-US" sz="12600" b="1" kern="0" spc="-378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PALPITE</a:t>
            </a:r>
            <a:endParaRPr lang="en-US" sz="12600" dirty="0"/>
          </a:p>
        </p:txBody>
      </p:sp>
      <p:sp>
        <p:nvSpPr>
          <p:cNvPr id="8" name="Text 5"/>
          <p:cNvSpPr/>
          <p:nvPr/>
        </p:nvSpPr>
        <p:spPr>
          <a:xfrm>
            <a:off x="1143000" y="6012061"/>
            <a:ext cx="9534525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739"/>
              </a:lnSpc>
              <a:buNone/>
            </a:pPr>
            <a:r>
              <a:rPr lang="en-US" sz="5700" i="1" dirty="0">
                <a:solidFill>
                  <a:srgbClr val="B23A2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Eu sei o que a IA vai responder.</a:t>
            </a:r>
            <a:endParaRPr lang="en-US" sz="5700" dirty="0"/>
          </a:p>
        </p:txBody>
      </p:sp>
      <p:sp>
        <p:nvSpPr>
          <p:cNvPr id="9" name="Text 6"/>
          <p:cNvSpPr/>
          <p:nvPr/>
        </p:nvSpPr>
        <p:spPr>
          <a:xfrm>
            <a:off x="15197004" y="2905125"/>
            <a:ext cx="1947996" cy="430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69381"/>
              </a:lnSpc>
              <a:buNone/>
            </a:pPr>
            <a:r>
              <a:rPr lang="en-US" sz="40000" dirty="0">
                <a:solidFill>
                  <a:srgbClr val="B23A2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?</a:t>
            </a:r>
            <a:endParaRPr lang="en-US" sz="40000" dirty="0"/>
          </a:p>
        </p:txBody>
      </p:sp>
      <p:sp>
        <p:nvSpPr>
          <p:cNvPr id="10" name="Text 7"/>
          <p:cNvSpPr/>
          <p:nvPr/>
        </p:nvSpPr>
        <p:spPr>
          <a:xfrm>
            <a:off x="11544121" y="7248525"/>
            <a:ext cx="56008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540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APOSTA COM A PLATEIA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9096375"/>
            <a:ext cx="908284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 SE APRENDE EM BOA COMPANHIA.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43418" y="9096375"/>
            <a:ext cx="73717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CONECTAR · COMPARTILHAR · EVOLUIR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2150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PALPITE · MESA 360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412218" y="914400"/>
            <a:ext cx="3006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01 DE 06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2644378"/>
            <a:ext cx="381000" cy="9525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714500" y="2496741"/>
            <a:ext cx="22042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585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PALPITE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3144441"/>
            <a:ext cx="7652385" cy="351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49"/>
              </a:lnSpc>
              <a:buNone/>
            </a:pPr>
            <a:r>
              <a:rPr lang="en-US" sz="7200" b="1" kern="0" spc="-144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VOU PROVAR QUE SEI O QUE A IA VAI RESPONDER.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6961584"/>
            <a:ext cx="706374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68"/>
              </a:lnSpc>
              <a:buNone/>
            </a:pPr>
            <a:r>
              <a:rPr lang="en-US" sz="2250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vocês perguntarem. O palpite fica guardado com alguém da plateia até o fim.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763250" y="2476500"/>
            <a:ext cx="5334000" cy="5334000"/>
          </a:xfrm>
          <a:prstGeom prst="ellipse">
            <a:avLst/>
          </a:prstGeom>
          <a:ln w="9525">
            <a:solidFill>
              <a:srgbClr val="5A687A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372850" y="3086100"/>
            <a:ext cx="4114800" cy="4114800"/>
          </a:xfrm>
          <a:prstGeom prst="ellipse">
            <a:avLst/>
          </a:prstGeom>
          <a:ln w="9525">
            <a:solidFill>
              <a:srgbClr val="5A68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 rot="-480000">
            <a:off x="12049125" y="3286125"/>
            <a:ext cx="2762250" cy="3714750"/>
          </a:xfrm>
          <a:prstGeom prst="rect">
            <a:avLst/>
          </a:prstGeom>
          <a:solidFill>
            <a:srgbClr val="E9E5DC"/>
          </a:solidFill>
          <a:ln/>
          <a:effectLst>
            <a:outerShdw blurRad="571500" dist="28575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rot="21122718">
            <a:off x="12176843" y="3521607"/>
            <a:ext cx="2506815" cy="3243786"/>
          </a:xfrm>
          <a:prstGeom prst="rect">
            <a:avLst/>
          </a:prstGeom>
          <a:ln w="9525">
            <a:solidFill>
              <a:srgbClr val="CAC6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 rot="2700000">
            <a:off x="13344525" y="5057775"/>
            <a:ext cx="171450" cy="171450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43000" y="9096375"/>
            <a:ext cx="27719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TECHNE TALKS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735723" y="9096375"/>
            <a:ext cx="4854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2150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PALPITE · MESA 360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368165" y="914400"/>
            <a:ext cx="30545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02 DE 06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2510135"/>
            <a:ext cx="381000" cy="9525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714500" y="2362498"/>
            <a:ext cx="25309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585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COBAIAS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3010198"/>
            <a:ext cx="6376988" cy="3223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31"/>
              </a:lnSpc>
              <a:buNone/>
            </a:pPr>
            <a:r>
              <a:rPr lang="en-US" sz="6600" b="1" kern="0" spc="-132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CINCO PESSOAS. CINCO APPS. UM PROMPT.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 rot="2700000">
            <a:off x="1143000" y="6686550"/>
            <a:ext cx="76200" cy="76200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71600" y="6557070"/>
            <a:ext cx="336508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2100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novo, sem histórico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477250" y="3380482"/>
            <a:ext cx="8667750" cy="3526036"/>
          </a:xfrm>
          <a:prstGeom prst="rect">
            <a:avLst/>
          </a:prstGeom>
          <a:solidFill>
            <a:srgbClr val="1C1C1C"/>
          </a:solidFill>
          <a:ln w="9525">
            <a:solidFill>
              <a:srgbClr val="5A68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248775" y="4075807"/>
            <a:ext cx="78371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PROMPT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48775" y="4618732"/>
            <a:ext cx="7338441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70"/>
              </a:lnSpc>
              <a:buNone/>
            </a:pPr>
            <a:r>
              <a:rPr lang="en-US" sz="5700" dirty="0">
                <a:solidFill>
                  <a:srgbClr val="F6F3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"Escolha um número de 1 a 30."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1143000" y="9096375"/>
            <a:ext cx="27719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TECHNE TALKS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714440" y="9096375"/>
            <a:ext cx="5067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2150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PALPITE · MESA 360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364891" y="914400"/>
            <a:ext cx="30581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03 DE 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55548" y="3324225"/>
            <a:ext cx="17767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kern="0" spc="585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SUA VEZ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622917" y="4010025"/>
            <a:ext cx="13042166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78082"/>
              </a:lnSpc>
              <a:buNone/>
            </a:pPr>
            <a:r>
              <a:rPr lang="en-US" sz="9000" b="1" kern="0" spc="-18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PENSE NUM NÚMERO DE 1 A 30.</a:t>
            </a:r>
            <a:endParaRPr lang="en-US" sz="9000" dirty="0"/>
          </a:p>
        </p:txBody>
      </p:sp>
      <p:sp>
        <p:nvSpPr>
          <p:cNvPr id="6" name="Shape 4"/>
          <p:cNvSpPr/>
          <p:nvPr/>
        </p:nvSpPr>
        <p:spPr>
          <a:xfrm rot="2700000">
            <a:off x="3856881" y="6724650"/>
            <a:ext cx="76200" cy="76200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085481" y="6581775"/>
            <a:ext cx="241860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514"/>
              </a:lnSpc>
              <a:buNone/>
            </a:pPr>
            <a:r>
              <a:rPr lang="en-US" sz="2250" dirty="0">
                <a:solidFill>
                  <a:srgbClr val="4E5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Anote no celular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 rot="2700000">
            <a:off x="7037487" y="6724650"/>
            <a:ext cx="76200" cy="76200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266087" y="6581775"/>
            <a:ext cx="342103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514"/>
              </a:lnSpc>
              <a:buNone/>
            </a:pPr>
            <a:r>
              <a:rPr lang="en-US" sz="2250" dirty="0">
                <a:solidFill>
                  <a:srgbClr val="4E5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mostre a ninguém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 rot="2700000">
            <a:off x="11197084" y="6724650"/>
            <a:ext cx="76200" cy="76200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1425684" y="6581775"/>
            <a:ext cx="309559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514"/>
              </a:lnSpc>
              <a:buNone/>
            </a:pPr>
            <a:r>
              <a:rPr lang="en-US" sz="2250" dirty="0">
                <a:solidFill>
                  <a:srgbClr val="4E5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Ninguém fica de fora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9096375"/>
            <a:ext cx="27719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TECHNE TALKS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738997" y="9096375"/>
            <a:ext cx="4822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298E882C-C9AC-2857-CDCF-3438EBC7C7D4}"/>
              </a:ext>
            </a:extLst>
          </p:cNvPr>
          <p:cNvSpPr/>
          <p:nvPr/>
        </p:nvSpPr>
        <p:spPr>
          <a:xfrm rot="2700000">
            <a:off x="5237230" y="7409849"/>
            <a:ext cx="76200" cy="76200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pPr algn="r"/>
            <a:endParaRPr lang="pt-BR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73611DF-40F6-9B91-05D6-9C6E467C3604}"/>
              </a:ext>
            </a:extLst>
          </p:cNvPr>
          <p:cNvSpPr/>
          <p:nvPr/>
        </p:nvSpPr>
        <p:spPr>
          <a:xfrm>
            <a:off x="5465830" y="7280368"/>
            <a:ext cx="29130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5294"/>
              </a:lnSpc>
              <a:buNone/>
            </a:pP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Contagem regressiva</a:t>
            </a:r>
            <a:endParaRPr lang="en-US" sz="2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3B2B5EA0-E31E-E62C-D8A0-45DE3DCF0EA9}"/>
              </a:ext>
            </a:extLst>
          </p:cNvPr>
          <p:cNvSpPr/>
          <p:nvPr/>
        </p:nvSpPr>
        <p:spPr>
          <a:xfrm rot="2700000">
            <a:off x="10015152" y="7409849"/>
            <a:ext cx="76200" cy="76200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pPr algn="r"/>
            <a:endParaRPr lang="pt-BR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0E8F5C43-C330-B4EB-5A96-9F3CBD76F3BC}"/>
              </a:ext>
            </a:extLst>
          </p:cNvPr>
          <p:cNvSpPr/>
          <p:nvPr/>
        </p:nvSpPr>
        <p:spPr>
          <a:xfrm>
            <a:off x="10243752" y="7280368"/>
            <a:ext cx="143291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5294"/>
              </a:lnSpc>
              <a:buNone/>
            </a:pP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Revelação</a:t>
            </a:r>
            <a:endParaRPr lang="en-US" sz="2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2150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PALPITE · MESA 360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343608" y="914400"/>
            <a:ext cx="30815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04 DE 06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3010942"/>
            <a:ext cx="381000" cy="9525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714500" y="2863304"/>
            <a:ext cx="61709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585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PEGADINHA NOS HUMANOS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3625304"/>
            <a:ext cx="16482060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5410"/>
              </a:lnSpc>
              <a:buNone/>
            </a:pPr>
            <a:r>
              <a:rPr lang="en-US" sz="11250" b="1" kern="0" spc="-337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ESCOLHEU 17 LEVANTA A MÃO.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1143000" y="6711404"/>
            <a:ext cx="1760220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20"/>
              </a:lnSpc>
              <a:buNone/>
            </a:pPr>
            <a:r>
              <a:rPr lang="en-US" sz="5100" i="1" dirty="0">
                <a:solidFill>
                  <a:srgbClr val="B23A2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Agora: quem escolheu 10, 20 ou 30?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143000" y="9096375"/>
            <a:ext cx="27719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TECHNE TALKS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736169" y="9096375"/>
            <a:ext cx="4850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2150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PALPITE · MESA 360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343608" y="914400"/>
            <a:ext cx="30815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04 DE 06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3024188"/>
            <a:ext cx="381000" cy="9525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714500" y="2876550"/>
            <a:ext cx="47777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585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ISSO SIGNIFICA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3524250"/>
            <a:ext cx="6376988" cy="3078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35"/>
              </a:lnSpc>
              <a:buNone/>
            </a:pPr>
            <a:r>
              <a:rPr lang="en-US" sz="6300" b="1" kern="0" spc="-126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 SORTEIO, CADA NÚMERO SAI 1 EM 30.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143000" y="6907411"/>
            <a:ext cx="681037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3600" i="1" dirty="0">
                <a:solidFill>
                  <a:srgbClr val="B23A2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IA aprendeu com a gente.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477250" y="2419499"/>
            <a:ext cx="8667750" cy="9525"/>
          </a:xfrm>
          <a:prstGeom prst="rect">
            <a:avLst/>
          </a:prstGeom>
          <a:solidFill>
            <a:srgbClr val="5A68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477250" y="3772049"/>
            <a:ext cx="8667750" cy="9525"/>
          </a:xfrm>
          <a:prstGeom prst="rect">
            <a:avLst/>
          </a:prstGeom>
          <a:solidFill>
            <a:srgbClr val="5A68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477250" y="3038624"/>
            <a:ext cx="561708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2100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fosse sorteio, mãos no 17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964692" y="2752874"/>
            <a:ext cx="3498339" cy="733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de 1</a:t>
            </a:r>
            <a:endParaRPr lang="en-US" sz="4500" dirty="0"/>
          </a:p>
        </p:txBody>
      </p:sp>
      <p:sp>
        <p:nvSpPr>
          <p:cNvPr id="12" name="Shape 10"/>
          <p:cNvSpPr/>
          <p:nvPr/>
        </p:nvSpPr>
        <p:spPr>
          <a:xfrm>
            <a:off x="8477250" y="5124599"/>
            <a:ext cx="8667750" cy="9525"/>
          </a:xfrm>
          <a:prstGeom prst="rect">
            <a:avLst/>
          </a:prstGeom>
          <a:solidFill>
            <a:srgbClr val="5A68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477250" y="4391174"/>
            <a:ext cx="876197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2100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fosse sorteio, mãos em 10, 20 ou 30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823680" y="4105424"/>
            <a:ext cx="397520" cy="733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8477250" y="6760815"/>
            <a:ext cx="8667750" cy="9525"/>
          </a:xfrm>
          <a:prstGeom prst="rect">
            <a:avLst/>
          </a:prstGeom>
          <a:solidFill>
            <a:srgbClr val="5A68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477250" y="5743724"/>
            <a:ext cx="797660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2100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acontece: várias mãos no 17, nenhuma nos redondos.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6602521" y="5457974"/>
            <a:ext cx="618679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8477250" y="7094190"/>
            <a:ext cx="892778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2100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Fugimos dos extremos e dos redondos. Bilhões de textos escritos por nós ensinaram isso à IA.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43000" y="9096375"/>
            <a:ext cx="27719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TECHNE TALKS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726346" y="9096375"/>
            <a:ext cx="4948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2150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PALPITE · MESA 360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365337" y="914400"/>
            <a:ext cx="30576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05 DE 06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2029123"/>
            <a:ext cx="381000" cy="9525"/>
          </a:xfrm>
          <a:prstGeom prst="rect">
            <a:avLst/>
          </a:prstGeom>
          <a:solidFill>
            <a:srgbClr val="B23A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714500" y="1881485"/>
            <a:ext cx="27198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585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17?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2452985"/>
            <a:ext cx="16482060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1"/>
              </a:lnSpc>
              <a:buNone/>
            </a:pPr>
            <a:r>
              <a:rPr lang="en-US" sz="6000" b="1" kern="0" spc="-12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FUGIMOS DOS EXTREMOS. FUGIMOS DOS REDONDOS. SOBRA O QUE "PARECE" ALEATÓRIO.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143000" y="5158085"/>
            <a:ext cx="5079950" cy="3247579"/>
          </a:xfrm>
          <a:prstGeom prst="rect">
            <a:avLst/>
          </a:prstGeom>
          <a:ln w="9525">
            <a:solidFill>
              <a:srgbClr val="CAC6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571625" y="5548610"/>
            <a:ext cx="46449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1625" y="5996285"/>
            <a:ext cx="4644970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9630"/>
              </a:lnSpc>
              <a:buNone/>
            </a:pPr>
            <a:r>
              <a:rPr lang="en-US" sz="3300" dirty="0">
                <a:solidFill>
                  <a:srgbClr val="11111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"Por que 17?"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571625" y="6628656"/>
            <a:ext cx="4349381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4E5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 jura que foi aleatório, "nada escondido". Não está lembrando — está completando uma explicação plausível.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603950" y="5158085"/>
            <a:ext cx="5079950" cy="3247579"/>
          </a:xfrm>
          <a:prstGeom prst="rect">
            <a:avLst/>
          </a:prstGeom>
          <a:ln w="9525">
            <a:solidFill>
              <a:srgbClr val="CAC6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032575" y="5548610"/>
            <a:ext cx="46449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PEÇA OUTRO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32575" y="5996285"/>
            <a:ext cx="4644970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9630"/>
              </a:lnSpc>
              <a:buNone/>
            </a:pPr>
            <a:r>
              <a:rPr lang="en-US" sz="3300" dirty="0">
                <a:solidFill>
                  <a:srgbClr val="11111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23. Depois 27, 13, 7…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7032575" y="6628656"/>
            <a:ext cx="4349381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4E5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Nunca 5, 10, 20 ou 30. O "aleatório" dela tem o mesmo vício que o nosso.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064901" y="5158085"/>
            <a:ext cx="5079950" cy="3247579"/>
          </a:xfrm>
          <a:prstGeom prst="rect">
            <a:avLst/>
          </a:prstGeom>
          <a:ln w="9525">
            <a:solidFill>
              <a:srgbClr val="CAC6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493526" y="5548610"/>
            <a:ext cx="46449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SOBRAR TEMPO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93526" y="5996285"/>
            <a:ext cx="4644970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9630"/>
              </a:lnSpc>
              <a:buNone/>
            </a:pPr>
            <a:r>
              <a:rPr lang="en-US" sz="3300" dirty="0">
                <a:solidFill>
                  <a:srgbClr val="11111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"Sorteie usando código."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2493526" y="6628656"/>
            <a:ext cx="434938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4E5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número muda. Calcular é diferente de completar.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43000" y="9096375"/>
            <a:ext cx="27719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TECHNE TALKS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732746" y="9096375"/>
            <a:ext cx="4884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2150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PALPITE · MESA 360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355514" y="914400"/>
            <a:ext cx="30684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CAC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06 DE 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706142"/>
            <a:ext cx="7652385" cy="253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036"/>
              </a:lnSpc>
              <a:buNone/>
            </a:pPr>
            <a:r>
              <a:rPr lang="en-US" sz="6900" b="1" kern="0" spc="-138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NÃO ESCOLHE. ELA COMPLETA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143000" y="5546229"/>
            <a:ext cx="81724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1818"/>
              </a:lnSpc>
              <a:buNone/>
            </a:pPr>
            <a:r>
              <a:rPr lang="en-US" sz="5400" i="1" dirty="0">
                <a:solidFill>
                  <a:srgbClr val="B23A2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 o que a maioria diria.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6574929"/>
            <a:ext cx="9525" cy="1005780"/>
          </a:xfrm>
          <a:prstGeom prst="rect">
            <a:avLst/>
          </a:prstGeom>
          <a:solidFill>
            <a:srgbClr val="5A68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10641" y="6916506"/>
            <a:ext cx="726186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7778"/>
              </a:lnSpc>
              <a:buNone/>
            </a:pPr>
            <a:r>
              <a:rPr lang="en-US" sz="3300" dirty="0">
                <a:solidFill>
                  <a:srgbClr val="CAC6C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"Quando a IA escolheu 17, a gente riu. Quando você escolheu 17, foi o quê?"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715500" y="2495550"/>
            <a:ext cx="7429500" cy="9525"/>
          </a:xfrm>
          <a:prstGeom prst="rect">
            <a:avLst/>
          </a:prstGeom>
          <a:solidFill>
            <a:srgbClr val="5A68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715500" y="4257675"/>
            <a:ext cx="7429500" cy="9525"/>
          </a:xfrm>
          <a:prstGeom prst="rect">
            <a:avLst/>
          </a:prstGeom>
          <a:solidFill>
            <a:srgbClr val="5A68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715500" y="2809875"/>
            <a:ext cx="81724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DIA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15500" y="3181350"/>
            <a:ext cx="765238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59"/>
              </a:lnSpc>
              <a:buNone/>
            </a:pPr>
            <a:r>
              <a:rPr lang="en-US" sz="2250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de empresa, slogan, ideia de post, primeiro e-mail: a primeira resposta da IA é sempre um 17.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715500" y="6019800"/>
            <a:ext cx="7429500" cy="9525"/>
          </a:xfrm>
          <a:prstGeom prst="rect">
            <a:avLst/>
          </a:prstGeom>
          <a:solidFill>
            <a:srgbClr val="5A68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715500" y="4572000"/>
            <a:ext cx="81724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O 17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15500" y="4943475"/>
            <a:ext cx="765238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59"/>
              </a:lnSpc>
              <a:buNone/>
            </a:pPr>
            <a:r>
              <a:rPr lang="en-US" sz="2250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resposta mais provável. Não a melhor, não a mais original — a que a maioria daria.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715500" y="7781925"/>
            <a:ext cx="7429500" cy="9525"/>
          </a:xfrm>
          <a:prstGeom prst="rect">
            <a:avLst/>
          </a:prstGeom>
          <a:solidFill>
            <a:srgbClr val="5A68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715500" y="6334125"/>
            <a:ext cx="81724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B23A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 ALGO NOVO?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15500" y="6705600"/>
            <a:ext cx="765238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59"/>
              </a:lnSpc>
              <a:buNone/>
            </a:pPr>
            <a:r>
              <a:rPr lang="en-US" sz="2250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Peça diferente: contexto, restrições, dez opções, "nada óbvio".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43000" y="9096375"/>
            <a:ext cx="908284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 SE APRENDE EM BOA COMPANHIA.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43418" y="9096375"/>
            <a:ext cx="73717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5A6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CONECTAR · COMPARTILHAR · EVOLUIR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37359-EFCB-0488-6D37-639C1A0DA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">
            <a:extLst>
              <a:ext uri="{FF2B5EF4-FFF2-40B4-BE49-F238E27FC236}">
                <a16:creationId xmlns:a16="http://schemas.microsoft.com/office/drawing/2014/main" id="{99033028-5324-FD33-55C9-27A823E23802}"/>
              </a:ext>
            </a:extLst>
          </p:cNvPr>
          <p:cNvSpPr/>
          <p:nvPr/>
        </p:nvSpPr>
        <p:spPr>
          <a:xfrm>
            <a:off x="5317808" y="3875857"/>
            <a:ext cx="7652385" cy="253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78036"/>
              </a:lnSpc>
              <a:buNone/>
            </a:pPr>
            <a:r>
              <a:rPr lang="en-US" sz="6900" b="1" kern="0" spc="-138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Caso do Médico</a:t>
            </a:r>
            <a:endParaRPr lang="en-US" sz="6900" dirty="0"/>
          </a:p>
        </p:txBody>
      </p:sp>
    </p:spTree>
    <p:extLst>
      <p:ext uri="{BB962C8B-B14F-4D97-AF65-F5344CB8AC3E}">
        <p14:creationId xmlns:p14="http://schemas.microsoft.com/office/powerpoint/2010/main" val="2953640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DFB2B-ADFE-13F8-1052-CCD27959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">
            <a:extLst>
              <a:ext uri="{FF2B5EF4-FFF2-40B4-BE49-F238E27FC236}">
                <a16:creationId xmlns:a16="http://schemas.microsoft.com/office/drawing/2014/main" id="{2FEE5320-42F0-7487-861F-FF08FCB2DD28}"/>
              </a:ext>
            </a:extLst>
          </p:cNvPr>
          <p:cNvSpPr/>
          <p:nvPr/>
        </p:nvSpPr>
        <p:spPr>
          <a:xfrm>
            <a:off x="5317808" y="3875857"/>
            <a:ext cx="7652385" cy="253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78036"/>
              </a:lnSpc>
              <a:buNone/>
            </a:pPr>
            <a:r>
              <a:rPr lang="en-US" sz="6900" b="1" kern="0" spc="-138" dirty="0" err="1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</a:t>
            </a:r>
            <a:endParaRPr lang="en-US" sz="6900" dirty="0"/>
          </a:p>
        </p:txBody>
      </p:sp>
    </p:spTree>
    <p:extLst>
      <p:ext uri="{BB962C8B-B14F-4D97-AF65-F5344CB8AC3E}">
        <p14:creationId xmlns:p14="http://schemas.microsoft.com/office/powerpoint/2010/main" val="3569455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1119</Words>
  <Application>Microsoft Office PowerPoint</Application>
  <PresentationFormat>Personalizar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Cormorant Garamond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Arthur De Castro</cp:lastModifiedBy>
  <cp:revision>4</cp:revision>
  <dcterms:created xsi:type="dcterms:W3CDTF">2026-10-17T06:21:16Z</dcterms:created>
  <dcterms:modified xsi:type="dcterms:W3CDTF">2026-10-17T06:35:53Z</dcterms:modified>
</cp:coreProperties>
</file>